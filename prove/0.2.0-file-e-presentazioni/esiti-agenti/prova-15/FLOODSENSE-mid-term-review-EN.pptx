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Say in one sentence where the project stands against the DoA: [overall status].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contract, not from the activities: that is what the project officer has in front of them. All codes from the DoA.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table. If anything is late, say so here and refer to the deviations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section per work package, in DoA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this slide for each WP. Every statement with its task or deliverable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values measured and provided by the consortium. A KPI not yet measured is reported as such, with the expected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figure only, readable from the back of the room. A caption that says what it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deviation per table row if there is more than one. Never say 'no significant deviations' without comparing with the DoA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from the DoA register, updated. A new risk is presented as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activities in the DoA or decided by the consortium.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message, not with 'Thank you'.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detailed questions 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questions on how the KPIs were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Presentation title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Subtitle / tagline in italics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[Speaker], [Speaker]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   |    Mid-term review — [venue] — [date]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Mid-term review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content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Mid-term review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 column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Right column (text or space for image or chart)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| Mid-term review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slide title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content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at mid-term: [one-sentence summary of status, e.g. N of M deliverables submitted]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Mid-term review, period M1-M[n]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M1-M[n] the DoA planned [n] deliverables and [n] milestones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DoA planned for the period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 for the period: [objectives from the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deliverables: [codes, from the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milestones: [codes and months, from the DoA]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[n] of [n] deliverables submitted, [n] of [n] milestones achieved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Deliverables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[D1.1: submitted M[x]]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[D3.2: submitted M[x], due M[y]]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[...]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Milestones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[MS1: achieved M[x], means of verification]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[MS4: ...]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[...]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What has been done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WP[n]: [main result of the WP in the period, in one sentence]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[Task T[n].[n]]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[Activity carried out, with task code]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[Output: deliverable, dataset, software, with link or DOI]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[Partners involved]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[Measured result: KPI and value, e.g. KPI X reached [value] against a target of [value]]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 for the period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1]: baseline [ ], target [ ], measured [ ], source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2]: baseline [ ], target [ ], measured [ ], source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[KPI 3]: baseline [ ], target [ ], measured [ ], source [ 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[Main evidence: what the figure shows]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shows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[Basin, period, events]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 and value]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[Data source]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[Figure or chart]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[to be inserted: figure provided by the consortium]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Deviations and risks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[n] deviations from the work plan, with cause and corrective action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Deviations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[Code]: planned M[x], actual M[y]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Cause: [concrete cause]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 and action: [effect on other tasks, action, new date, amendment if needed]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[Main risk for the second period and how we mitigate it]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Updated risks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[Risk, from the DoA risk register]: likelihood [ ], impact [ 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 [planned measure and status]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[New risk, if any]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Next period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M[n+1]-M[end] we will submit [n] deliverables, starting with [code]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[Deliverable and month, from the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[Milestone and month, from the DoA]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[Follow-up actions on recommendations, if any]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[Take-home message: project status in one sentence]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[Key message]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[Point 1]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[Point 2]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[Coordinator contact]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table of deliverables and milestones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[Table from the DoA with updated status]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KPIs are measured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[For each KPI: metric, data, period, source]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
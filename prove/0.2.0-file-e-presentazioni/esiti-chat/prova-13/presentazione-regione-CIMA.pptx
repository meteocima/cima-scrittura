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  <Relationship Id="rId12" Type="http://schemas.openxmlformats.org/officeDocument/2006/relationships/slide" Target="slides/slide6.xml"/>
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Buongiorno. Grazie a [nome e ruolo di chi ha invitato] per l'invito. Sono [nome, ruolo in Fondazione CIMA]. Ho circa trenta minuti; le domande alla fine.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Fondazione CIMA è qui per proporre a [Regione] una cosa precisa: [obiettivo della collaborazione]. Si parte da [esigenza], che chi lavora in [struttura regionale] conosce meglio di chi parla. Mostrerò [caso concreto] e chiuderò con una richiesta: [richiesta].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Due minuti per dire chi è CIMA e a che titolo si presenta oggi.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Fondazione CIMA è un centro di ricerca applicata senza scopo di lucro, nato nel 2007 a Savona. Tra i soci fondatori ci sono il Dipartimento della Protezione Civile (DPC), l'Università di Genova, Regione Liguria e la Provincia di Savona; si sono aggiunte l'Agenzia Regionale per la Protezione dell'Ambiente Ligure (ARPAL) nel 2019 e la Regione Autonoma Valle d'Aosta nel 2024. Il punto che conta oggi è la colonna di destra: dal 2018 CIMA è struttura operativa del Servizio Nazionale della Protezione Civile, ai sensi del Codice della Protezione Civile, il Decreto Legislativo 1/2018. È con questa qualifica che CIMA si presenta a [Regione].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Questi sono gli ambiti in cui lavora la Fondazione. Non li presento tutti: per [Regione] i più vicini alle esigenze di oggi sono [ambiti], e la terza parte è dedicata a quelli.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Prima degli strumenti, il punto di vista della Regione.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Partire da un evento che tutti in sala ricordano: [evento, data, area]. Poi il dato: [valore, fonte, anno]. (Ogni numero di questa slide va preso da fonti regionali o ufficiali e verificato.)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[Esigenza] nasce da [contesto]. CIMA non sostituisce le valutazioni dell'ente: le decisioni di allerta e di intervento restano a [struttura regionale]. (Questa slide va concordata prima con i referenti regionali: descrive le loro esigenze con le loro parole.)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Regione dispone già di [sistemi e dati]. Quello che manca è [elemento]: per esempio, durante [evento] [che cosa è successo per questa mancanza]. Da qui parte la proposta.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Gli strumenti, solo quelli che rispondono alle esigenze appena dette.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 modello idrologico prende la pioggia osservata e prevista e calcola quanta acqua arriverà nei corsi d'acqua, e quando. [Descrivere il modello in due frasi, senza gergo.] Il dato che interessa alla Regione è il preavviso: [ore o giorni] su [bacini].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 sistema di allerta precoce (SAP) mette insieme la previsione, le soglie oltre le quali scatta l'attenzione e chi deve decidere. [Descrivere come funzionerebbe per la Regione.] Soglie e procedure: [chi le definisce, da concordare con la Regione].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DEWETRA è il sistema integrato per il monitoraggio in tempo reale, la previsione e la prevenzione dei rischi naturali, progettato grazie a un accordo tra il Dipartimento della Protezione Civile e Fondazione CIMA e operativo presso il Dipartimento. Permette di seguire un evento meteorologico mentre accade, costruire scenari di rischio e riguardare eventi passati. [Dire se e come la Regione lo usa già: da verificare con i referenti.] (Fonte: Dipartimento della Protezione Civile, pagina "Dewetra system" su protezionecivile.gov.it; termini di accesso del portale myDEWETRA.)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Sulla siccità: [che cosa si monitora e con quale frequenza]. Sul territorio: [quali dati satellitari e quale analisi]. (Tenere questa slide solo se la siccità o l'analisi territoriale sono fra le esigenze della Regione.)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Gli strumenti servono se chi li usa in sala operativa li conosce. La proposta comprende [percorso]: [destinatari], [formato], [durata].</a:t>
            </a: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 caso, raccontato per bene, vale più di un elenco di progetti.</a:t>
            </a: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[Raccontare il caso in un minuto: contesto, che cosa è stato fatto, da chi.] (Scegliere un caso che la Regione riconosca come vicino alla propria situazione. Solo dati documentati, con fonte.)</a:t>
            </a: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[Commentare il confronto in due frasi.] (Stesso indicatore, stessa unità, periodi confrontabili nelle due colonne: altrimenti il confronto non regge.)</a:t>
            </a: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Anche questo caso ha avuto un limite: [limite]. È stato affrontato con [correzione]. Per [Regione] il contesto è diverso in [aspetti], e se ne tiene conto nella proposta. (Dire i limiti prima che li chieda qualcuno in sala.)</a:t>
            </a: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Che cosa si propone, chi fa che cosa, da dove si comincia.</a:t>
            </a: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 concreto la proposta è [attività principale] su [area], entro [orizzonte]. Il risultato atteso per la Regione è [risultato], misurato con [indicatore].</a:t>
            </a: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 sinistra quello che resta alla Regione, a destra quello che farebbe CIMA. [Commento.] (Ogni voce va confermata con la Regione prima della giornata: nessun impegno dell'ente va presentato come già preso.)</a:t>
            </a: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primo passo concreto è [azione], entro [data]. Lo strumento per formalizzarlo è [convenzione o accordo]. Dopo [periodo] si verifica insieme se [indicatore] è migliorato.</a:t>
            </a: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[Ripetere il messaggio in una frase.] La richiesta di oggi è [richiesta]. Grazie; sono a disposizione per le domande.</a:t>
            </a: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domande amministrative sulla forma dell'accordo.</a:t>
            </a: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i tecnici che chiedono come funziona il modello e quanto è affidabile.</a:t>
            </a: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Domanda quasi certa. Non dare cifre a voce che non siano su questa slide.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736" y="457200"/>
            <a:ext cx="1322222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presentazione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Sottotitolo / taglione in corsivo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1371600" y="48920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[Nome Cognome], [Nome Cognome]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1371600" y="5285232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   |    [Regione] — [Titolo della giornata] — [data]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371600" y="5943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e [Regione]  |  [tema]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della slide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_2CO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e [Regione]  |  [tema]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sinistra</a:t>
            </a:r>
            <a:endParaRPr lang="en-US" sz="1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destra (testo o spazio per immagine/grafico)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97840" cy="868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sezione</a:t>
            </a:r>
            <a:endParaRPr lang="en-US" sz="4000" dirty="0"/>
          </a:p>
        </p:txBody>
      </p:sp>
      <p:sp>
        <p:nvSpPr>
          <p:cNvPr id="4" name="Text 0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BACK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e [Regione]  |  [tema]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1234440" cy="384048"/>
          </a:xfrm>
          <a:prstGeom prst="rect">
            <a:avLst>
              <a:gd name="adj" fmla="val 50000"/>
            </a:avLst>
          </a:prstGeom>
          <a:solidFill>
            <a:srgbClr val="1F3A6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777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slide di backup</a:t>
            </a:r>
            <a:endParaRPr lang="en-US" sz="28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di backup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N1" Type="http://schemas.openxmlformats.org/officeDocument/2006/relationships/notesSlide" Target="../notesSlides/notesSlide10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0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N1" Type="http://schemas.openxmlformats.org/officeDocument/2006/relationships/notesSlide" Target="../notesSlides/notesSlide10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1" Type="http://schemas.openxmlformats.org/officeDocument/2006/relationships/notesSlide" Target="../notesSlides/notesSlide10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05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N1" Type="http://schemas.openxmlformats.org/officeDocument/2006/relationships/notesSlide" Target="../notesSlides/notesSlide106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0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08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09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N1" Type="http://schemas.openxmlformats.org/officeDocument/2006/relationships/notesSlide" Target="../notesSlides/notesSlide110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1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1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1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1" Type="http://schemas.openxmlformats.org/officeDocument/2006/relationships/notesSlide" Target="../notesSlides/notesSlide11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15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N1" Type="http://schemas.openxmlformats.org/officeDocument/2006/relationships/notesSlide" Target="../notesSlides/notesSlide116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17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1" Type="http://schemas.openxmlformats.org/officeDocument/2006/relationships/notesSlide" Target="../notesSlides/notesSlide118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19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N1" Type="http://schemas.openxmlformats.org/officeDocument/2006/relationships/notesSlide" Target="../notesSlides/notesSlide120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2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1" Type="http://schemas.openxmlformats.org/officeDocument/2006/relationships/notesSlide" Target="../notesSlides/notesSlide12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2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N1" Type="http://schemas.openxmlformats.org/officeDocument/2006/relationships/notesSlide" Target="../notesSlides/notesSlide12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N1" Type="http://schemas.openxmlformats.org/officeDocument/2006/relationships/notesSlide" Target="../notesSlides/notesSlide12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N1" Type="http://schemas.openxmlformats.org/officeDocument/2006/relationships/notesSlide" Target="../notesSlides/notesSlide126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N1" Type="http://schemas.openxmlformats.org/officeDocument/2006/relationships/notesSlide" Target="../notesSlides/notesSlide127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e [Regione]: [tema della giornata]</a:t>
            </a:r>
            <a:endParaRPr lang="it-IT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it-IT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[Sottotitolo: che cosa si propone di fare insieme]</a:t>
            </a:r>
            <a:endParaRPr lang="it-IT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CIMA propone a [Regione] di [obiettivo della collaborazione]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cambia per la Regione, in una riga]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 dove si parte: [esigenza o problema del territorio]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lo dimostra: [caso concreto]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si chiede oggi: [richiesta, es. avvio di un tavolo tecnico]</a:t>
            </a:r>
            <a:endParaRPr lang="it-IT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Fondazione CIMA</a:t>
            </a:r>
            <a:endParaRPr lang="it-IT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è una struttura operativa del Servizio Nazionale della Protezione Civile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7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 è</a:t>
            </a:r>
            <a:endParaRPr lang="it-IT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di ricerca applicata senza scopo di lucro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Costituita nel 2007, sede a Savona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137 dipendenti (2026)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 fondatori: DPC, Università di Genova, Regione Liguria, Provincia di Savona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Soci dal 2019: ARPAL; dal 2024: Regione Autonoma Valle d'Aosta</a:t>
            </a:r>
            <a:endParaRPr lang="it-IT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7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che titolo interviene</a:t>
            </a:r>
            <a:endParaRPr lang="it-IT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2012: Centro di Competenza del Sistema di Protezione Civile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2018: struttura operativa del Servizio Nazionale, ai sensi del D.Lgs. 1/2018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2020: inserita nell'elenco degli enti meteo nazionali</a:t>
            </a:r>
            <a:endParaRPr lang="it-IT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lavoro di CIMA va dalla previsione degli eventi alla gestione del rischio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[Regione] contano soprattutto: [ambiti da evidenziare]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Previsione idrologica sui bacini idrografici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Sistemi di allerta precoce per alluvioni e siccità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del rischio da disastri e cambiamento climatico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Sistemi informativi geografici (GIS) e telerilevamento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Formazione e rafforzamento delle capacità degli enti</a:t>
            </a:r>
            <a:endParaRPr lang="it-IT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— Le esigenze di [Regione]</a:t>
            </a:r>
            <a:endParaRPr lang="it-IT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[Rischio principale] è il rischio che pesa di più su [Regione]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[Dato sintetico, con fonte e anno]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Eventi recenti: [data, area, effetti]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Esposizione: [popolazione o beni esposti, fonte, anno]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Aree più colpite: [bacini o zone]</a:t>
            </a:r>
            <a:endParaRPr lang="it-IT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[Struttura regionale] ha bisogno di [esigenza principale] per [decisione operativa]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decisioni operative restano in capo a [struttura regionale]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serve: [es. più preavviso sui piccoli bacini]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Entro quando: [es. prossima stagione autunnale]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quali vincoli: [dati, personale, sistemi già in uso]</a:t>
            </a:r>
            <a:endParaRPr lang="it-IT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Oggi manca [elemento] tra il dato osservato e la decisione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[La lacuna in una riga, con un esempio]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c'è già: [sistemi e dati in uso]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manca: [elemento mancante]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costa non averlo: [conseguenza, con dato se disponibile]</a:t>
            </a:r>
            <a:endParaRPr lang="it-IT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— Che cosa sa fare CIMA</a:t>
            </a:r>
            <a:endParaRPr lang="it-IT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previsione idrologica trasforma la pioggia prevista in portate attese nei bacini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[Modello o catena modellistica proposta per la Regione]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Bacini coperti: [elenco o numero]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Orizzonte di previsione: [ore o giorni], aggiornamento ogni [intervallo]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di ingresso: [osservazioni e previsioni meteorologiche usate]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Validazione: [periodo, indicatore, valore]</a:t>
            </a:r>
            <a:endParaRPr lang="it-IT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sistema di allerta precoce collega previsione, soglie e decisione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aggiungerebbe un SAP all'organizzazione regionale]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Soglie: [chi le definisce e su quali basi]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Prodotti: [mappe, bollettini, avvisi]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 li riceve: [destinatari nella struttura regionale]</a:t>
            </a:r>
            <a:endParaRPr lang="it-IT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DEWETRA riunisce monitoraggio in tempo reale e previsione dei rischi naturali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Nata da un accordo tra DPC e CIMA, opera presso il Dipartimento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delle stazioni e di altri strumenti di osservazione sulla stessa mappa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Scenari di rischio e analisi di eventi in corso o passati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web per le strutture del Servizio Nazionale, previa valutazione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 attuale in [Regione]: [da verificare]</a:t>
            </a:r>
            <a:endParaRPr lang="it-IT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Gli stessi strumenti servono per la siccità e per la lettura del territorio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7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Siccità</a:t>
            </a:r>
            <a:endParaRPr lang="it-IT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[Indicatori monitorati]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[Prodotti per la Regione, es. bollettini periodici]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[Frequenza di aggiornamento]</a:t>
            </a:r>
            <a:endParaRPr lang="it-IT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7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Telerilevamento e GIS</a:t>
            </a:r>
            <a:endParaRPr lang="it-IT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[Dati satellitari usati: sensore o piattaforma]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[Analisi proposta, es. mappe delle aree allagate]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[Integrazione con i sistemi regionali]</a:t>
            </a:r>
            <a:endParaRPr lang="it-IT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formazione lascia all'ente le competenze per usare gli strumenti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[Percorso di formazione proposto]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Destinatari: [tecnici, funzionari, operatori di sala]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Formato: [corso, affiancamento, esercitazione]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Durata: [ore o giornate]</a:t>
            </a:r>
            <a:endParaRPr lang="it-IT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— Un caso concreto</a:t>
            </a:r>
            <a:endParaRPr lang="it-IT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 [anno], in [area], [sistema] ha [risultato principale]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[Il risultato in una frase, con il dato]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Contesto: [evento o progetto, ente coinvolto]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ha fatto CIMA: [attività]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ha fatto l'ente: [attività]</a:t>
            </a:r>
            <a:endParaRPr lang="it-IT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 e dopo: [indicatore] è passato da [valore] a [valore]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7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</a:t>
            </a:r>
            <a:endParaRPr lang="it-IT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[Situazione di partenza]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[Indicatore: valore, unità, periodo]</a:t>
            </a:r>
            <a:endParaRPr lang="it-IT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7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Dopo</a:t>
            </a:r>
            <a:endParaRPr lang="it-IT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[Situazione con il sistema in uso]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[Indicatore: valore, unità, periodo]</a:t>
            </a:r>
            <a:endParaRPr lang="it-IT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[Limite emerso nel caso] è stato affrontato con [correzione]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il caso non dimostra ancora: [limite residuo]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Limite: [descrizione]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Correzione adottata: [descrizione]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 cosa vale per [Regione]: [differenze di contesto]</a:t>
            </a:r>
            <a:endParaRPr lang="it-IT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— La proposta</a:t>
            </a:r>
            <a:endParaRPr lang="it-IT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propone di partire da [attività principale] su [area] entro [orizzonte]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[Risultato atteso per la Regione, misurabile]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[Attività 1]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[Attività 2]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[Attività 3, se prevista]</a:t>
            </a:r>
            <a:endParaRPr lang="it-IT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competenze restano dove sono: [Regione] decide, CIMA [ruolo da concordare]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7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[Regione]</a:t>
            </a:r>
            <a:endParaRPr lang="it-IT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[Decisioni e competenze dell'ente]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[Dati e informazioni messi a disposizione]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Referente tecnico: [nome, struttura]</a:t>
            </a:r>
            <a:endParaRPr lang="it-IT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7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</a:t>
            </a:r>
            <a:endParaRPr lang="it-IT" sz="17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[Attività e prodotti]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[Tempi di consegna]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Referente tecnico: [nome]</a:t>
            </a:r>
            <a:endParaRPr lang="it-IT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primo passo può essere [azione concreta] entro [data]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[Strumento formale: convenzione o accordo, da definire con la Regione]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Fase 1, [periodo]: [attività]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Fase 2, [periodo]: [attività]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 dei risultati: [quando, con quale indicatore]</a:t>
            </a:r>
            <a:endParaRPr lang="it-IT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[Messaggio da ricordare, scritto per esteso]</a:t>
            </a:r>
            <a:endParaRPr lang="it-IT" sz="26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it-IT" sz="18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[Richiesta esplicita alla Regione]</a:t>
            </a:r>
            <a:endParaRPr lang="it-IT" sz="18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Referente: [Nome Cognome], [ruolo], [email]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CIMA, Via Armand Magliotto 2, 17100 Savona (SV)</a:t>
            </a:r>
            <a:endParaRPr lang="it-IT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info@cimafoundation.org</a:t>
            </a:r>
            <a:endParaRPr lang="it-IT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identificativi utili per convenzioni e accordi</a:t>
            </a:r>
            <a:endParaRPr lang="it-IT" sz="26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Ragione sociale: Centro Internazionale in Monitoraggio Ambientale</a:t>
            </a:r>
            <a:endParaRPr lang="it-IT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Sede legale: Via Armand Magliotto 2, 17100 Savona (SV)</a:t>
            </a:r>
            <a:endParaRPr lang="it-IT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Codice fiscale 92085010095, partita IVA 01503290098</a:t>
            </a:r>
            <a:endParaRPr lang="it-IT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PEC: cimafoundation@pec.it</a:t>
            </a:r>
            <a:endParaRPr lang="it-IT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operativa del Servizio Nazionale della Protezione Civile ai sensi del D.Lgs. 1/2018</a:t>
            </a:r>
            <a:endParaRPr lang="it-IT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Dettaglio metodologico: [modello], dati di ingresso e validazione</a:t>
            </a:r>
            <a:endParaRPr lang="it-IT" sz="26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[Struttura del modello]</a:t>
            </a:r>
            <a:endParaRPr lang="it-IT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[Dati di ingresso e risoluzione]</a:t>
            </a:r>
            <a:endParaRPr lang="it-IT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[Periodo e indicatori di validazione, con valori]</a:t>
            </a:r>
            <a:endParaRPr lang="it-IT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Costi, tempi e risorse della collaborazione proposta</a:t>
            </a:r>
            <a:endParaRPr lang="it-IT" sz="26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[Costi: da definire]</a:t>
            </a:r>
            <a:endParaRPr lang="it-IT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[Cronoprogramma]</a:t>
            </a:r>
            <a:endParaRPr lang="it-IT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it-IT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[Risorse richieste alla Regione: dati, personale]</a:t>
            </a:r>
            <a:endParaRPr lang="it-IT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CIMA Research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CIMA Research Foundation</dc:creator>
  <cp:lastModifiedBy>CIMA Research Foundation</cp:lastModifiedBy>
  <cp:revision>1</cp:revision>
  <dcterms:created xsi:type="dcterms:W3CDTF">2026-06-19T10:09:46Z</dcterms:created>
  <dcterms:modified xsi:type="dcterms:W3CDTF">2026-06-19T10:09:46Z</dcterms:modified>
</cp:coreProperties>
</file>